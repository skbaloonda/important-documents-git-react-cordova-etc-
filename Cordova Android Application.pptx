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3" r:id="rId6"/>
    <p:sldId id="260" r:id="rId7"/>
    <p:sldId id="259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D80150-E4BC-4786-8E53-542C1FEEABB7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EEFD8-A1B2-4A5B-8A4E-4E4D22D294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07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EEFD8-A1B2-4A5B-8A4E-4E4D22D2942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325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4A19C-A52E-005B-AE1C-14E91CE10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BB8750-44CA-1A41-3DE3-FC7BACE8E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707C2-5497-EC39-5B0B-744A324A6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58A7-9069-4114-99D0-DA92BB73EBA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75DCA-F079-FCAC-4DEB-4748107B0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73E37-1FFA-A94B-FB2A-DA0FBEE0F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ABC35-F0CF-4A9F-8A39-AE5ABF1A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735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530DB-1CCB-9275-073B-1667590B3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EF928-A912-32CA-B30D-87C9B6FB9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8949D-93B9-9E12-BD96-D36B34F28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58A7-9069-4114-99D0-DA92BB73EBA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9C70E-E947-A81A-FCB0-BC1F8BD27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672F2-0D05-E682-73F2-C4235B699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ABC35-F0CF-4A9F-8A39-AE5ABF1A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412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74E2D-3482-4DCF-BEC3-6BF3D85B1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75D37-2C9F-F5DC-202C-5FADE8E2B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5293F-79A7-4A72-74EC-9EA6ED5E2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58A7-9069-4114-99D0-DA92BB73EBA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BC329-75D1-8D0E-2C88-A984EBB7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30FB2-116D-F14F-1756-B804CA2E3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ABC35-F0CF-4A9F-8A39-AE5ABF1A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632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6553A-4A90-B744-F9CC-271AF303C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FAD5F-EA74-D019-CA8E-6A14AF0C9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44E20-BE3E-4CF9-2D53-907ED9E66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6E3432-505D-071F-4102-C3193048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58A7-9069-4114-99D0-DA92BB73EBA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1CEDE-184A-FDCB-D23C-5B9D7929C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FDB51-C8F5-96C4-7CA0-786C1C22A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ABC35-F0CF-4A9F-8A39-AE5ABF1A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940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BC69A-5D03-82F0-581B-F4304AB29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87528-BEB7-44DA-8B34-29A5DD0E9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E89F79-80E4-CA2C-3B9F-E7DEA7885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65B9E8-3E5F-85C1-CE11-3C29E2A7DD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38B2F0-E9DD-790A-E3E6-BC7EB8A17B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13EB77-AD35-BF6A-3ACB-F6296C2B5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58A7-9069-4114-99D0-DA92BB73EBA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8E2076-BA86-8545-417E-714070B66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AF29C8-0DCA-4656-451B-E51664AFF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ABC35-F0CF-4A9F-8A39-AE5ABF1A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909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5C232-7ECB-F45B-278F-D6C8B0DA1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6A76BA-AAAA-CDA1-DC25-3DD848287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58A7-9069-4114-99D0-DA92BB73EBA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0D70F-6ADE-A347-A91C-E0C264E22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A3ECF9-E505-5800-F34D-3024B431E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ABC35-F0CF-4A9F-8A39-AE5ABF1A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194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C929C-D20D-9329-D55D-0CBF9D8A9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58A7-9069-4114-99D0-DA92BB73EBA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A39754-18F0-9394-DB4E-E9C02A061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96685-D1FF-E922-9A80-660EE02D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ABC35-F0CF-4A9F-8A39-AE5ABF1A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236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A0EA3-A06B-753E-C267-041FCB36C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8FFCE-1C25-3FA6-184E-21E5EDE38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C1356-6758-9DEE-BE30-F90794247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58F9E-1ECD-0454-B13A-0956A8573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58A7-9069-4114-99D0-DA92BB73EBA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643B3-4348-F423-8BB3-A9907999F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78D62-41DA-68CB-42C6-481F014E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ABC35-F0CF-4A9F-8A39-AE5ABF1A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76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FF560-8AA0-7BD4-3CFA-6F4939910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E1E778-1DE3-7D20-C21F-1E0C7166CB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0FCE5-4CA8-525F-09ED-13E7FD629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A573A-19E8-D082-87C0-892A10044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58A7-9069-4114-99D0-DA92BB73EBA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0D4DC6-493C-4C22-2896-6CFE8C68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0A0DBA-1069-4E96-F6EB-1084313C6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ABC35-F0CF-4A9F-8A39-AE5ABF1A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709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930E5-BB46-F57F-9CFB-E434EACF2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54CADB-1977-2EF9-19A9-C3376BAC9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22EF2-8803-CAAB-452D-F27E2CA89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58A7-9069-4114-99D0-DA92BB73EBA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E39C1-78DA-BA73-B169-F34852B49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2F508-89FB-DFC8-9D79-EF3B6729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ABC35-F0CF-4A9F-8A39-AE5ABF1A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41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AC9363-A678-C472-7885-C8793DA42F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AA646-91E3-D972-E436-67490017E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7B2A7-8AAD-08E3-6CE5-866BDE260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58A7-9069-4114-99D0-DA92BB73EBA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AA336-5B66-E4B3-E1C6-B12F52136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EE745-5C89-6A91-D35B-72D8129A6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ABC35-F0CF-4A9F-8A39-AE5ABF1A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32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69B83A-9F01-D634-455C-19AD54854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317DE-2B0A-B520-C95B-190E88A22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0B866-335E-AA0C-1373-5531DC037B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3658A7-9069-4114-99D0-DA92BB73EBA1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7E142-DC32-EB9F-201B-7F4CC31104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2653F-3746-EB31-969E-04BA3F9A6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ABC35-F0CF-4A9F-8A39-AE5ABF1A3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491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91CFB3E7-D4A0-4ABF-9B0C-2FAEB8C15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E3C5560-7A9C-489F-9148-18C5E1D0F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6C67B3-A623-0AAF-C580-D9944FD85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8043" y="590062"/>
            <a:ext cx="5309140" cy="2838938"/>
          </a:xfrm>
        </p:spPr>
        <p:txBody>
          <a:bodyPr>
            <a:normAutofit/>
          </a:bodyPr>
          <a:lstStyle/>
          <a:p>
            <a:pPr algn="l"/>
            <a:r>
              <a:rPr lang="en-US" sz="5600" dirty="0">
                <a:solidFill>
                  <a:srgbClr val="FFFFFF"/>
                </a:solidFill>
              </a:rPr>
              <a:t>Cordova Android Application Configuration </a:t>
            </a:r>
            <a:endParaRPr lang="en-IN" sz="5600" dirty="0">
              <a:solidFill>
                <a:srgbClr val="FFFFFF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17F93EC-7EAE-49FF-879E-66628D423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3696" y="1606411"/>
            <a:ext cx="465456" cy="581432"/>
            <a:chOff x="653696" y="1606411"/>
            <a:chExt cx="465456" cy="581432"/>
          </a:xfrm>
          <a:solidFill>
            <a:srgbClr val="FFFFFF"/>
          </a:solidFill>
        </p:grpSpPr>
        <p:sp>
          <p:nvSpPr>
            <p:cNvPr id="32" name="Graphic 13">
              <a:extLst>
                <a:ext uri="{FF2B5EF4-FFF2-40B4-BE49-F238E27FC236}">
                  <a16:creationId xmlns:a16="http://schemas.microsoft.com/office/drawing/2014/main" id="{C5CB530E-515E-412C-9DF1-5F8FFBD6F3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9236" y="1606411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3" name="Graphic 12">
              <a:extLst>
                <a:ext uri="{FF2B5EF4-FFF2-40B4-BE49-F238E27FC236}">
                  <a16:creationId xmlns:a16="http://schemas.microsoft.com/office/drawing/2014/main" id="{712D4376-A578-4FF1-94FC-245E7A6A4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014" y="1835705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grpFill/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4" name="Graphic 15">
              <a:extLst>
                <a:ext uri="{FF2B5EF4-FFF2-40B4-BE49-F238E27FC236}">
                  <a16:creationId xmlns:a16="http://schemas.microsoft.com/office/drawing/2014/main" id="{AEA7509D-F04F-40CB-A0B3-EEF16499C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3696" y="2060130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11" name="Picture 10" descr="A green robot with two arms&#10;&#10;AI-generated content may be incorrect.">
            <a:extLst>
              <a:ext uri="{FF2B5EF4-FFF2-40B4-BE49-F238E27FC236}">
                <a16:creationId xmlns:a16="http://schemas.microsoft.com/office/drawing/2014/main" id="{663E15EF-9F2B-9357-1E8C-7BC5375A4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2"/>
          <a:stretch>
            <a:fillRect/>
          </a:stretch>
        </p:blipFill>
        <p:spPr>
          <a:xfrm>
            <a:off x="7402277" y="341648"/>
            <a:ext cx="2926335" cy="2926335"/>
          </a:xfrm>
          <a:custGeom>
            <a:avLst/>
            <a:gdLst/>
            <a:ahLst/>
            <a:cxnLst/>
            <a:rect l="l" t="t" r="r" b="b"/>
            <a:pathLst>
              <a:path w="2537092" h="2537092">
                <a:moveTo>
                  <a:pt x="1268546" y="0"/>
                </a:moveTo>
                <a:cubicBezTo>
                  <a:pt x="1969145" y="0"/>
                  <a:pt x="2537092" y="567947"/>
                  <a:pt x="2537092" y="1268546"/>
                </a:cubicBezTo>
                <a:cubicBezTo>
                  <a:pt x="2537092" y="1969145"/>
                  <a:pt x="1969145" y="2537092"/>
                  <a:pt x="1268546" y="2537092"/>
                </a:cubicBezTo>
                <a:cubicBezTo>
                  <a:pt x="567947" y="2537092"/>
                  <a:pt x="0" y="1969145"/>
                  <a:pt x="0" y="1268546"/>
                </a:cubicBezTo>
                <a:cubicBezTo>
                  <a:pt x="0" y="567947"/>
                  <a:pt x="567947" y="0"/>
                  <a:pt x="1268546" y="0"/>
                </a:cubicBezTo>
                <a:close/>
              </a:path>
            </a:pathLst>
          </a:cu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8489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white cube with blue lights&#10;&#10;AI-generated content may be incorrect.">
            <a:extLst>
              <a:ext uri="{FF2B5EF4-FFF2-40B4-BE49-F238E27FC236}">
                <a16:creationId xmlns:a16="http://schemas.microsoft.com/office/drawing/2014/main" id="{E875CF8A-1A61-BC3B-3435-2C2CB84C8A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0" r="-1" b="10422"/>
          <a:stretch>
            <a:fillRect/>
          </a:stretch>
        </p:blipFill>
        <p:spPr>
          <a:xfrm>
            <a:off x="8465225" y="3247675"/>
            <a:ext cx="3726773" cy="3590017"/>
          </a:xfrm>
          <a:custGeom>
            <a:avLst/>
            <a:gdLst/>
            <a:ahLst/>
            <a:cxnLst/>
            <a:rect l="l" t="t" r="r" b="b"/>
            <a:pathLst>
              <a:path w="5923214" h="5705857">
                <a:moveTo>
                  <a:pt x="3612238" y="0"/>
                </a:moveTo>
                <a:cubicBezTo>
                  <a:pt x="4485043" y="0"/>
                  <a:pt x="5285549" y="309553"/>
                  <a:pt x="5909957" y="824860"/>
                </a:cubicBezTo>
                <a:lnTo>
                  <a:pt x="5923214" y="836909"/>
                </a:lnTo>
                <a:lnTo>
                  <a:pt x="5923214" y="5705857"/>
                </a:lnTo>
                <a:lnTo>
                  <a:pt x="672237" y="5705857"/>
                </a:lnTo>
                <a:lnTo>
                  <a:pt x="616914" y="5631875"/>
                </a:lnTo>
                <a:cubicBezTo>
                  <a:pt x="227427" y="5055358"/>
                  <a:pt x="0" y="4360357"/>
                  <a:pt x="0" y="3612238"/>
                </a:cubicBezTo>
                <a:cubicBezTo>
                  <a:pt x="0" y="1617255"/>
                  <a:pt x="1617255" y="0"/>
                  <a:pt x="361223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83224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B81813-740A-B52E-A735-4B3B1D653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 dirty="0">
                <a:solidFill>
                  <a:srgbClr val="FFFFFF"/>
                </a:solidFill>
              </a:rPr>
              <a:t>What is  Cordova</a:t>
            </a:r>
            <a:endParaRPr lang="en-IN" sz="5600" dirty="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2B2FE-AAEF-DF9F-5601-CDE7A2197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298" y="1084507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Cordova is a Hybrid Mobile     Application Framework used to build Android/iOS apps using 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       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HTML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       CSS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       JavaScript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Cordova wraps the </a:t>
            </a:r>
            <a:r>
              <a:rPr lang="en-US" sz="2800" b="1" dirty="0">
                <a:solidFill>
                  <a:schemeClr val="tx1">
                    <a:alpha val="80000"/>
                  </a:schemeClr>
                </a:solidFill>
              </a:rPr>
              <a:t>Web </a:t>
            </a:r>
            <a:r>
              <a:rPr lang="en-US" b="1" dirty="0">
                <a:solidFill>
                  <a:schemeClr val="tx1">
                    <a:alpha val="80000"/>
                  </a:schemeClr>
                </a:solidFill>
              </a:rPr>
              <a:t>A</a:t>
            </a:r>
            <a:r>
              <a:rPr lang="en-US" sz="2800" b="1" dirty="0">
                <a:solidFill>
                  <a:schemeClr val="tx1">
                    <a:alpha val="80000"/>
                  </a:schemeClr>
                </a:solidFill>
              </a:rPr>
              <a:t>pplication</a:t>
            </a: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 into a </a:t>
            </a:r>
            <a:r>
              <a:rPr lang="en-US" sz="2800" b="1" dirty="0">
                <a:solidFill>
                  <a:schemeClr val="tx1">
                    <a:alpha val="80000"/>
                  </a:schemeClr>
                </a:solidFill>
              </a:rPr>
              <a:t>Native WebView </a:t>
            </a: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and give access to device hardware(e.g. Camera) via </a:t>
            </a:r>
            <a:r>
              <a:rPr lang="en-US" sz="2800" b="1" dirty="0">
                <a:solidFill>
                  <a:schemeClr val="tx1">
                    <a:alpha val="80000"/>
                  </a:schemeClr>
                </a:solidFill>
              </a:rPr>
              <a:t>Native Plugins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969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3EE0AD-CA94-F3E3-40BA-46EBE6A3A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 dirty="0">
                <a:solidFill>
                  <a:srgbClr val="FFFFFF"/>
                </a:solidFill>
              </a:rPr>
              <a:t>How Cordova Works</a:t>
            </a:r>
            <a:endParaRPr lang="en-IN" sz="5600" dirty="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12CF3-B333-876D-A59C-009F2EA85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 lnSpcReduction="10000"/>
          </a:bodyPr>
          <a:lstStyle/>
          <a:p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Cordova = Web App + Native Bridge + WebView Container</a:t>
            </a:r>
          </a:p>
          <a:p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alpha val="80000"/>
                  </a:schemeClr>
                </a:solidFill>
              </a:rPr>
              <a:t>Web App: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HTML+JS+CSS</a:t>
            </a:r>
          </a:p>
          <a:p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alpha val="80000"/>
                  </a:schemeClr>
                </a:solidFill>
              </a:rPr>
              <a:t>Bridge: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cordova.js : Bridge between JavaScript and native code</a:t>
            </a:r>
          </a:p>
          <a:p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alpha val="80000"/>
                  </a:schemeClr>
                </a:solidFill>
              </a:rPr>
              <a:t>WebView Container :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Cordova WebView : Displays Web UI in Native Android App</a:t>
            </a:r>
          </a:p>
          <a:p>
            <a:endParaRPr lang="en-IN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618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B6406F-7D94-CD20-683C-860DC31E8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 dirty="0">
                <a:solidFill>
                  <a:srgbClr val="FFFFFF"/>
                </a:solidFill>
              </a:rPr>
              <a:t>Flow of Execution</a:t>
            </a:r>
            <a:endParaRPr lang="en-IN" sz="5600" dirty="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8ED5C-AB53-F3F6-2D0C-71764760A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5288927" cy="5837949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</a:rPr>
              <a:t>Step1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 :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</a:rPr>
              <a:t>MainActivity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(extends </a:t>
            </a:r>
            <a:r>
              <a:rPr lang="en-US" dirty="0" err="1">
                <a:solidFill>
                  <a:schemeClr val="tx1">
                    <a:alpha val="80000"/>
                  </a:schemeClr>
                </a:solidFill>
              </a:rPr>
              <a:t>CordovaActivity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) starts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</a:rPr>
              <a:t>Step 2: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 Initializes Cordova WebView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</a:rPr>
              <a:t>Steps3: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 WebView loads :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>
                    <a:alpha val="80000"/>
                  </a:schemeClr>
                </a:solidFill>
              </a:rPr>
              <a:t>Android_assest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/www/index.html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</a:rPr>
              <a:t>Step4: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Execute cordova.js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</a:rPr>
              <a:t>Step5: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 Other app logics </a:t>
            </a:r>
            <a:endParaRPr lang="en-IN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174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435B0-7CFC-9AEE-CEE7-E36862612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Importance od Cordova Activity</a:t>
            </a:r>
            <a:endParaRPr lang="en-IN" sz="4000" dirty="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CEF8E-528C-726A-1243-45AE627EC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IN" dirty="0" err="1"/>
              <a:t>MainActivity</a:t>
            </a:r>
            <a:r>
              <a:rPr lang="en-IN" dirty="0"/>
              <a:t> extends </a:t>
            </a:r>
            <a:r>
              <a:rPr lang="en-IN" b="1" dirty="0" err="1"/>
              <a:t>CordovaActivity</a:t>
            </a:r>
            <a:r>
              <a:rPr lang="en-IN" dirty="0"/>
              <a:t>, which provides: </a:t>
            </a:r>
          </a:p>
          <a:p>
            <a:pPr lvl="1"/>
            <a:r>
              <a:rPr lang="en-IN" dirty="0"/>
              <a:t>Automatic WebView setup</a:t>
            </a:r>
          </a:p>
          <a:p>
            <a:pPr lvl="1"/>
            <a:r>
              <a:rPr lang="en-IN" dirty="0"/>
              <a:t>Plugin management</a:t>
            </a:r>
          </a:p>
          <a:p>
            <a:pPr lvl="1"/>
            <a:r>
              <a:rPr lang="en-IN" dirty="0"/>
              <a:t>Config.xml processing</a:t>
            </a:r>
          </a:p>
          <a:p>
            <a:pPr lvl="1"/>
            <a:r>
              <a:rPr lang="en-IN" dirty="0"/>
              <a:t>Native–JS bridge creation</a:t>
            </a:r>
          </a:p>
          <a:p>
            <a:r>
              <a:rPr lang="en-IN" dirty="0" err="1"/>
              <a:t>CordovaActivity</a:t>
            </a:r>
            <a:r>
              <a:rPr lang="en-IN" dirty="0"/>
              <a:t> is the heart of the Cordova Android runtime.</a:t>
            </a:r>
          </a:p>
          <a:p>
            <a:endParaRPr lang="en-IN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621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62A54A-1E23-69C1-D7E9-29CC8DB34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 dirty="0">
                <a:solidFill>
                  <a:srgbClr val="FFFFFF"/>
                </a:solidFill>
              </a:rPr>
              <a:t>Important Cordova Commands </a:t>
            </a:r>
            <a:endParaRPr lang="en-IN" sz="5600" dirty="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F46A4-AC7C-DC74-C81E-70DFCC667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136" y="1454571"/>
            <a:ext cx="4771607" cy="5837949"/>
          </a:xfrm>
        </p:spPr>
        <p:txBody>
          <a:bodyPr anchor="ctr">
            <a:normAutofit/>
          </a:bodyPr>
          <a:lstStyle/>
          <a:p>
            <a:pPr marL="457200" indent="-457200">
              <a:buAutoNum type="arabicPeriod"/>
            </a:pPr>
            <a:r>
              <a:rPr lang="en-IN" sz="2400" dirty="0" err="1"/>
              <a:t>cordova</a:t>
            </a:r>
            <a:r>
              <a:rPr lang="en-IN" sz="2400" dirty="0"/>
              <a:t> create </a:t>
            </a:r>
            <a:r>
              <a:rPr lang="en-IN" sz="2400" dirty="0" err="1"/>
              <a:t>DemoApp</a:t>
            </a:r>
            <a:r>
              <a:rPr lang="en-IN" sz="2400" dirty="0"/>
              <a:t> </a:t>
            </a:r>
            <a:r>
              <a:rPr lang="en-IN" sz="2400" dirty="0" err="1"/>
              <a:t>com.example.demo</a:t>
            </a:r>
            <a:r>
              <a:rPr lang="en-IN" sz="2400" dirty="0"/>
              <a:t> </a:t>
            </a:r>
            <a:r>
              <a:rPr lang="en-IN" sz="2400" dirty="0" err="1"/>
              <a:t>DemoApp</a:t>
            </a:r>
            <a:endParaRPr lang="en-IN" sz="2400" dirty="0"/>
          </a:p>
          <a:p>
            <a:pPr marL="457200" indent="-457200">
              <a:buAutoNum type="arabicPeriod"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2. </a:t>
            </a:r>
            <a:r>
              <a:rPr lang="en-IN" sz="2400" dirty="0" err="1"/>
              <a:t>cordova</a:t>
            </a:r>
            <a:r>
              <a:rPr lang="en-IN" sz="2400" dirty="0"/>
              <a:t> platform add android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3. </a:t>
            </a:r>
            <a:r>
              <a:rPr lang="en-IN" sz="2400" dirty="0" err="1"/>
              <a:t>cordova</a:t>
            </a:r>
            <a:r>
              <a:rPr lang="en-IN" sz="2400" dirty="0"/>
              <a:t> platform ls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4. </a:t>
            </a:r>
            <a:r>
              <a:rPr lang="en-IN" sz="2400" dirty="0" err="1"/>
              <a:t>cordova</a:t>
            </a:r>
            <a:r>
              <a:rPr lang="en-IN" sz="2400" dirty="0"/>
              <a:t> build android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5</a:t>
            </a:r>
            <a:r>
              <a:rPr lang="en-IN" dirty="0"/>
              <a:t>. </a:t>
            </a:r>
            <a:r>
              <a:rPr lang="en-IN" sz="2400" dirty="0" err="1"/>
              <a:t>cordova</a:t>
            </a:r>
            <a:r>
              <a:rPr lang="en-IN" sz="2400" dirty="0"/>
              <a:t> plugin add </a:t>
            </a:r>
            <a:r>
              <a:rPr lang="en-IN" sz="2400" dirty="0" err="1"/>
              <a:t>cordova</a:t>
            </a:r>
            <a:r>
              <a:rPr lang="en-IN" sz="2400" dirty="0"/>
              <a:t>-plugin-device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244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245407-B869-6B92-38D7-A5CE7089A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400" dirty="0">
                <a:solidFill>
                  <a:srgbClr val="FFFFFF"/>
                </a:solidFill>
              </a:rPr>
              <a:t>High Level Android + Cordova Architecture</a:t>
            </a:r>
            <a:endParaRPr lang="en-IN" sz="5400" dirty="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3AC9ED5-E0FD-8640-58FB-06E9BF318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374394"/>
            <a:ext cx="4343395" cy="4524177"/>
          </a:xfrm>
          <a:prstGeom prst="rect">
            <a:avLst/>
          </a:prstGeom>
        </p:spPr>
      </p:pic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C6AA41AD-23FB-5D1A-5D38-63364A5E1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777" y="4593771"/>
            <a:ext cx="4126187" cy="156861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846128F-BF14-9099-9F31-C6BE8070C8F3}"/>
              </a:ext>
            </a:extLst>
          </p:cNvPr>
          <p:cNvSpPr txBox="1"/>
          <p:nvPr/>
        </p:nvSpPr>
        <p:spPr>
          <a:xfrm>
            <a:off x="10820513" y="1242052"/>
            <a:ext cx="15312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Application Layer</a:t>
            </a:r>
            <a:endParaRPr lang="en-IN" sz="2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9319E64-6E29-D8A8-B11F-28E37703083C}"/>
              </a:ext>
            </a:extLst>
          </p:cNvPr>
          <p:cNvCxnSpPr>
            <a:stCxn id="20" idx="1"/>
          </p:cNvCxnSpPr>
          <p:nvPr/>
        </p:nvCxnSpPr>
        <p:spPr>
          <a:xfrm flipH="1" flipV="1">
            <a:off x="10331293" y="968829"/>
            <a:ext cx="489220" cy="627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C760D58-8992-D95B-CB26-64B76B58F2E7}"/>
              </a:ext>
            </a:extLst>
          </p:cNvPr>
          <p:cNvCxnSpPr>
            <a:stCxn id="20" idx="1"/>
          </p:cNvCxnSpPr>
          <p:nvPr/>
        </p:nvCxnSpPr>
        <p:spPr>
          <a:xfrm flipH="1">
            <a:off x="10298636" y="1595995"/>
            <a:ext cx="521877" cy="353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20F1696-39E8-7A7B-6B61-BC9539EFA6C0}"/>
              </a:ext>
            </a:extLst>
          </p:cNvPr>
          <p:cNvCxnSpPr>
            <a:cxnSpLocks/>
            <a:stCxn id="20" idx="1"/>
            <a:endCxn id="13" idx="3"/>
          </p:cNvCxnSpPr>
          <p:nvPr/>
        </p:nvCxnSpPr>
        <p:spPr>
          <a:xfrm flipH="1">
            <a:off x="10439395" y="1595995"/>
            <a:ext cx="381118" cy="1040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164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E4D97-81FA-8C2A-432F-E755D8097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 dirty="0">
                <a:solidFill>
                  <a:srgbClr val="FFFFFF"/>
                </a:solidFill>
              </a:rPr>
              <a:t>Thank You</a:t>
            </a:r>
            <a:endParaRPr lang="en-IN" sz="5600" dirty="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81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221</Words>
  <Application>Microsoft Office PowerPoint</Application>
  <PresentationFormat>Widescreen</PresentationFormat>
  <Paragraphs>51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Cordova Android Application Configuration </vt:lpstr>
      <vt:lpstr>What is  Cordova</vt:lpstr>
      <vt:lpstr>How Cordova Works</vt:lpstr>
      <vt:lpstr>Flow of Execution</vt:lpstr>
      <vt:lpstr>Importance od Cordova Activity</vt:lpstr>
      <vt:lpstr>Important Cordova Commands </vt:lpstr>
      <vt:lpstr>High Level Android + Cordova Architecture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., SUNIL</dc:creator>
  <cp:lastModifiedBy>., SUNIL</cp:lastModifiedBy>
  <cp:revision>11</cp:revision>
  <dcterms:created xsi:type="dcterms:W3CDTF">2026-01-22T09:15:55Z</dcterms:created>
  <dcterms:modified xsi:type="dcterms:W3CDTF">2026-01-27T09:24:14Z</dcterms:modified>
</cp:coreProperties>
</file>