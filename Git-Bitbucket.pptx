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EC7413-903A-45FA-AFDD-24931F586216}" type="datetimeFigureOut">
              <a:rPr lang="en-IN" smtClean="0"/>
              <a:t>13-01-2026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ED776-8A99-4D63-BD0A-FAFB58814AAE}" type="slidenum">
              <a:rPr lang="en-IN" smtClean="0"/>
              <a:t>‹#›</a:t>
            </a:fld>
            <a:endParaRPr lang="en-IN"/>
          </a:p>
        </p:txBody>
      </p:sp>
    </p:spTree>
    <p:extLst>
      <p:ext uri="{BB962C8B-B14F-4D97-AF65-F5344CB8AC3E}">
        <p14:creationId xmlns:p14="http://schemas.microsoft.com/office/powerpoint/2010/main" val="1404137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DED776-8A99-4D63-BD0A-FAFB58814AAE}" type="slidenum">
              <a:rPr lang="en-IN" smtClean="0"/>
              <a:t>5</a:t>
            </a:fld>
            <a:endParaRPr lang="en-IN"/>
          </a:p>
        </p:txBody>
      </p:sp>
    </p:spTree>
    <p:extLst>
      <p:ext uri="{BB962C8B-B14F-4D97-AF65-F5344CB8AC3E}">
        <p14:creationId xmlns:p14="http://schemas.microsoft.com/office/powerpoint/2010/main" val="2643354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A9B5E-A960-F77D-E63F-61C0BE33BB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161C94-B78F-E0A7-EA73-B749A92414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7333EC-2283-E626-8DB5-C1BFABA6C47D}"/>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5" name="Footer Placeholder 4">
            <a:extLst>
              <a:ext uri="{FF2B5EF4-FFF2-40B4-BE49-F238E27FC236}">
                <a16:creationId xmlns:a16="http://schemas.microsoft.com/office/drawing/2014/main" id="{CE61A9D2-6152-9A9C-C7B3-3CC6722FB1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7C9890-0CCA-D3BE-FC7E-EDC3D8CFC061}"/>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732471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1D57-8FDC-2CD0-CEF2-46C2410F178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58512A-55A6-B73E-19D7-3A0487C0D2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4F74F1-C30D-9AF4-CE72-06E15CB3C01E}"/>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5" name="Footer Placeholder 4">
            <a:extLst>
              <a:ext uri="{FF2B5EF4-FFF2-40B4-BE49-F238E27FC236}">
                <a16:creationId xmlns:a16="http://schemas.microsoft.com/office/drawing/2014/main" id="{EB913673-A454-A0BC-442B-E20807A41E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3282B4-6F3E-0A3E-13B1-3573810FA6AB}"/>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2113060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7320D-C907-DEB1-B140-FBC8D7C1A2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F0C02C-F140-9D4A-1393-5A3E3C35FF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950C63-513A-1A78-1C05-31219F67D57A}"/>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5" name="Footer Placeholder 4">
            <a:extLst>
              <a:ext uri="{FF2B5EF4-FFF2-40B4-BE49-F238E27FC236}">
                <a16:creationId xmlns:a16="http://schemas.microsoft.com/office/drawing/2014/main" id="{3C974968-89D4-B5FB-269E-8CBEF43A9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B3EDB4-D31D-3616-7C06-3DB9989A6AC5}"/>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3364501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89929-9E0B-D859-2D2B-CD52931759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564865-0352-EE6B-3A68-7D88CA0EF9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28D65A0-E465-5735-186E-18D8982D26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511530-A0C8-8167-D6D9-C46A61B6509D}"/>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6" name="Footer Placeholder 5">
            <a:extLst>
              <a:ext uri="{FF2B5EF4-FFF2-40B4-BE49-F238E27FC236}">
                <a16:creationId xmlns:a16="http://schemas.microsoft.com/office/drawing/2014/main" id="{62AFE8A2-00ED-9D97-69F2-97B8B4996A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05B04C-B714-AE24-F982-0803868B5B50}"/>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973684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314F-A836-AE6E-EC21-8F4F06EA0A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9296F0-8E2A-CB8A-566F-E4E5AB034B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2DCD6C-F33B-2867-2A41-3B2102005D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CB8576-74FB-E30F-D89A-35BB72FBD4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A8ECD9-CBC2-8452-596B-CFB4516080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A8AD468-0C38-983E-EDD4-FF44C277A55F}"/>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8" name="Footer Placeholder 7">
            <a:extLst>
              <a:ext uri="{FF2B5EF4-FFF2-40B4-BE49-F238E27FC236}">
                <a16:creationId xmlns:a16="http://schemas.microsoft.com/office/drawing/2014/main" id="{1C8B6D8F-37A1-97EF-C7A2-9E1F229F7A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A6605E-29F4-6F28-EABE-3241216AA87A}"/>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501988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64036-F171-CF66-E577-73246EF2D9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DD47B3-8BB9-9BF9-FAC7-D7520CA5ACC9}"/>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4" name="Footer Placeholder 3">
            <a:extLst>
              <a:ext uri="{FF2B5EF4-FFF2-40B4-BE49-F238E27FC236}">
                <a16:creationId xmlns:a16="http://schemas.microsoft.com/office/drawing/2014/main" id="{FC82C63A-A562-395B-86AD-8720B77AB1D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AC57B8-F1A4-FFCA-CB13-EFF4502A3DA9}"/>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1063467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E19755-5102-4FE5-F1C6-3D3A03D76611}"/>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3" name="Footer Placeholder 2">
            <a:extLst>
              <a:ext uri="{FF2B5EF4-FFF2-40B4-BE49-F238E27FC236}">
                <a16:creationId xmlns:a16="http://schemas.microsoft.com/office/drawing/2014/main" id="{3E29DAB1-C680-9EB0-3CB0-A6B9E55686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FD8E13-C003-00A1-A211-A4FC355FEE98}"/>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1055394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0B678-0FB2-6766-1D64-8A8E8E4DAD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05E47D-8A83-BCCB-CD0F-56F689642A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92E2D7-62A9-57DF-4BEA-B2A17FDFB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9C36EF-1AF9-8345-CBCE-979C17C1C4D7}"/>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6" name="Footer Placeholder 5">
            <a:extLst>
              <a:ext uri="{FF2B5EF4-FFF2-40B4-BE49-F238E27FC236}">
                <a16:creationId xmlns:a16="http://schemas.microsoft.com/office/drawing/2014/main" id="{51E5A125-10A0-C29A-11B8-53B6440383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6E810A-F843-4A67-B8DE-FE02ADEBF1E9}"/>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835070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A869E-D28B-C865-FDC3-65D1F1665B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585A1F-0C87-77BB-97F9-F4EA505442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292B80-EC13-4FBF-BF19-6BB09FE80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6EA95-7D34-0B31-6981-7ACEB3BD1882}"/>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6" name="Footer Placeholder 5">
            <a:extLst>
              <a:ext uri="{FF2B5EF4-FFF2-40B4-BE49-F238E27FC236}">
                <a16:creationId xmlns:a16="http://schemas.microsoft.com/office/drawing/2014/main" id="{4D9507CE-8C05-F458-FB3B-83E76BB8BE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5F5184-F3CE-F400-FD0D-40BB97353102}"/>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3690270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2B70-476D-E4DC-0BE1-693C99A77C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205953-D479-8711-AC77-EE95635712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3AF63E-A169-0576-28B0-76D16FCAEF7B}"/>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5" name="Footer Placeholder 4">
            <a:extLst>
              <a:ext uri="{FF2B5EF4-FFF2-40B4-BE49-F238E27FC236}">
                <a16:creationId xmlns:a16="http://schemas.microsoft.com/office/drawing/2014/main" id="{2EF5A2DD-5DE8-05AE-966A-90095E9DA1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38B07D-344F-D50E-37CC-7532ABA0734D}"/>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2576598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4652A3-122A-8F77-65D9-52D60894EB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B15208-8EF4-1F87-A8E9-B4FD2D645E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0200EC-E037-E81E-4F8A-E8488EDEEA65}"/>
              </a:ext>
            </a:extLst>
          </p:cNvPr>
          <p:cNvSpPr>
            <a:spLocks noGrp="1"/>
          </p:cNvSpPr>
          <p:nvPr>
            <p:ph type="dt" sz="half" idx="10"/>
          </p:nvPr>
        </p:nvSpPr>
        <p:spPr/>
        <p:txBody>
          <a:bodyPr/>
          <a:lstStyle/>
          <a:p>
            <a:fld id="{773BF255-E3E8-4844-9F90-65838DD28109}" type="datetimeFigureOut">
              <a:rPr lang="en-IN" smtClean="0"/>
              <a:t>13-01-2026</a:t>
            </a:fld>
            <a:endParaRPr lang="en-IN"/>
          </a:p>
        </p:txBody>
      </p:sp>
      <p:sp>
        <p:nvSpPr>
          <p:cNvPr id="5" name="Footer Placeholder 4">
            <a:extLst>
              <a:ext uri="{FF2B5EF4-FFF2-40B4-BE49-F238E27FC236}">
                <a16:creationId xmlns:a16="http://schemas.microsoft.com/office/drawing/2014/main" id="{A71A1AF9-E0EC-A82B-E86D-CF4D9C8319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658ED2-DF99-BC2C-9632-6C65859C3D34}"/>
              </a:ext>
            </a:extLst>
          </p:cNvPr>
          <p:cNvSpPr>
            <a:spLocks noGrp="1"/>
          </p:cNvSpPr>
          <p:nvPr>
            <p:ph type="sldNum" sz="quarter" idx="12"/>
          </p:nvPr>
        </p:nvSpPr>
        <p:spPr/>
        <p:txBody>
          <a:bodyPr/>
          <a:lstStyle/>
          <a:p>
            <a:fld id="{3E5E5EE2-D020-4CAB-9A07-58698F1111E5}" type="slidenum">
              <a:rPr lang="en-IN" smtClean="0"/>
              <a:t>‹#›</a:t>
            </a:fld>
            <a:endParaRPr lang="en-IN"/>
          </a:p>
        </p:txBody>
      </p:sp>
    </p:spTree>
    <p:extLst>
      <p:ext uri="{BB962C8B-B14F-4D97-AF65-F5344CB8AC3E}">
        <p14:creationId xmlns:p14="http://schemas.microsoft.com/office/powerpoint/2010/main" val="3474709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23ED75-0AF3-DAC8-0057-5A3055C2B9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BDA4E9-3218-4382-636D-015B2759F8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4BC3B7-5B48-4BD3-6323-1F13B9F006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3BF255-E3E8-4844-9F90-65838DD28109}" type="datetimeFigureOut">
              <a:rPr lang="en-IN" smtClean="0"/>
              <a:t>13-01-2026</a:t>
            </a:fld>
            <a:endParaRPr lang="en-IN"/>
          </a:p>
        </p:txBody>
      </p:sp>
      <p:sp>
        <p:nvSpPr>
          <p:cNvPr id="5" name="Footer Placeholder 4">
            <a:extLst>
              <a:ext uri="{FF2B5EF4-FFF2-40B4-BE49-F238E27FC236}">
                <a16:creationId xmlns:a16="http://schemas.microsoft.com/office/drawing/2014/main" id="{072EEA95-C6DD-2424-35B8-2FC2CE9EFC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4B598C3-AF46-122D-168F-E094B31052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5E5EE2-D020-4CAB-9A07-58698F1111E5}" type="slidenum">
              <a:rPr lang="en-IN" smtClean="0"/>
              <a:t>‹#›</a:t>
            </a:fld>
            <a:endParaRPr lang="en-IN"/>
          </a:p>
        </p:txBody>
      </p:sp>
    </p:spTree>
    <p:extLst>
      <p:ext uri="{BB962C8B-B14F-4D97-AF65-F5344CB8AC3E}">
        <p14:creationId xmlns:p14="http://schemas.microsoft.com/office/powerpoint/2010/main" val="553433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itbucket.org/" TargetMode="External"/><Relationship Id="rId2" Type="http://schemas.openxmlformats.org/officeDocument/2006/relationships/hyperlink" Target="https://git-scm.com/instal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bing.com/ck/a?!&amp;&amp;p=f2a8f41a126ee9b229275dce4a8a9602b86d872cfa23f57273909806f392a7afJmltdHM9MTc2ODI2MjQwMA&amp;ptn=3&amp;ver=2&amp;hsh=4&amp;fclid=36981d8d-e271-6e6a-03db-083ee3046f30&amp;psq=difference+between+git+pull+and+git+fetch&amp;u=a1aHR0cHM6Ly93d3cuZ2Vla3Nmb3JnZWVrcy5vcmcvZ2l0L2dpdC1kaWZmZXJlbmNlLWJldHdlZW4tZ2l0LWZldGNoLWFuZC1naXQtcHVsbC8&amp;ntb=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bing.com/ck/a?!&amp;&amp;p=7025574627ca1a3fa08c78a53a37f61a2d1e98aeff70994f61ee1df27956f155JmltdHM9MTc2ODI2MjQwMA&amp;ptn=3&amp;ver=2&amp;hsh=4&amp;fclid=36981d8d-e271-6e6a-03db-083ee3046f30&amp;psq=git+tagging&amp;u=a1aHR0cHM6Ly93d3cuc2hlbGxoYWNrcy5jb20vZ2l0LWNyZWF0ZS10YWctcHVzaC10YWctdG8tcmVtb3RlLw&amp;ntb=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7DFE68F-D7AC-D792-A8EC-4C61FE5A634C}"/>
              </a:ext>
            </a:extLst>
          </p:cNvPr>
          <p:cNvSpPr>
            <a:spLocks noGrp="1"/>
          </p:cNvSpPr>
          <p:nvPr>
            <p:ph type="ctrTitle"/>
          </p:nvPr>
        </p:nvSpPr>
        <p:spPr>
          <a:xfrm>
            <a:off x="660041" y="2767106"/>
            <a:ext cx="2880828" cy="3071906"/>
          </a:xfrm>
        </p:spPr>
        <p:txBody>
          <a:bodyPr anchor="t">
            <a:normAutofit/>
          </a:bodyPr>
          <a:lstStyle/>
          <a:p>
            <a:pPr algn="l"/>
            <a:r>
              <a:rPr lang="en-US" sz="4000">
                <a:solidFill>
                  <a:srgbClr val="FFFFFF"/>
                </a:solidFill>
              </a:rPr>
              <a:t>Git and Bit Bucket </a:t>
            </a:r>
            <a:br>
              <a:rPr lang="en-US" sz="4000">
                <a:solidFill>
                  <a:srgbClr val="FFFFFF"/>
                </a:solidFill>
              </a:rPr>
            </a:br>
            <a:endParaRPr lang="en-IN" sz="4000">
              <a:solidFill>
                <a:srgbClr val="FFFFFF"/>
              </a:solidFill>
            </a:endParaRPr>
          </a:p>
        </p:txBody>
      </p:sp>
      <p:pic>
        <p:nvPicPr>
          <p:cNvPr id="5" name="Picture 4">
            <a:extLst>
              <a:ext uri="{FF2B5EF4-FFF2-40B4-BE49-F238E27FC236}">
                <a16:creationId xmlns:a16="http://schemas.microsoft.com/office/drawing/2014/main" id="{32231779-1F5E-637F-DDB4-9D3FB5284E64}"/>
              </a:ext>
            </a:extLst>
          </p:cNvPr>
          <p:cNvPicPr>
            <a:picLocks noChangeAspect="1"/>
          </p:cNvPicPr>
          <p:nvPr/>
        </p:nvPicPr>
        <p:blipFill>
          <a:blip r:embed="rId2"/>
          <a:stretch>
            <a:fillRect/>
          </a:stretch>
        </p:blipFill>
        <p:spPr>
          <a:xfrm>
            <a:off x="4090719" y="1044608"/>
            <a:ext cx="8101281" cy="5199278"/>
          </a:xfrm>
          <a:prstGeom prst="rect">
            <a:avLst/>
          </a:prstGeom>
        </p:spPr>
      </p:pic>
    </p:spTree>
    <p:extLst>
      <p:ext uri="{BB962C8B-B14F-4D97-AF65-F5344CB8AC3E}">
        <p14:creationId xmlns:p14="http://schemas.microsoft.com/office/powerpoint/2010/main" val="154280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65888A-4839-6ECF-C498-82046463137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Download Git and create account on Bit Bucket </a:t>
            </a:r>
            <a:endParaRPr lang="en-IN" sz="4000" dirty="0">
              <a:solidFill>
                <a:srgbClr val="FFFFFF"/>
              </a:solidFill>
            </a:endParaRPr>
          </a:p>
        </p:txBody>
      </p:sp>
      <p:sp>
        <p:nvSpPr>
          <p:cNvPr id="3" name="Content Placeholder 2">
            <a:extLst>
              <a:ext uri="{FF2B5EF4-FFF2-40B4-BE49-F238E27FC236}">
                <a16:creationId xmlns:a16="http://schemas.microsoft.com/office/drawing/2014/main" id="{4A8BF84F-D624-EFA9-48DA-B8B5077C9718}"/>
              </a:ext>
            </a:extLst>
          </p:cNvPr>
          <p:cNvSpPr>
            <a:spLocks noGrp="1"/>
          </p:cNvSpPr>
          <p:nvPr>
            <p:ph idx="1"/>
          </p:nvPr>
        </p:nvSpPr>
        <p:spPr>
          <a:xfrm>
            <a:off x="4810259" y="649480"/>
            <a:ext cx="6555347" cy="5546047"/>
          </a:xfrm>
        </p:spPr>
        <p:txBody>
          <a:bodyPr anchor="ctr">
            <a:normAutofit/>
          </a:bodyPr>
          <a:lstStyle/>
          <a:p>
            <a:r>
              <a:rPr lang="en-US" sz="2000" dirty="0"/>
              <a:t>1. Download git from : </a:t>
            </a:r>
            <a:r>
              <a:rPr lang="en-IN" sz="2000" dirty="0">
                <a:hlinkClick r:id="rId2"/>
              </a:rPr>
              <a:t>Git – Install</a:t>
            </a:r>
            <a:endParaRPr lang="en-IN" sz="2000" dirty="0"/>
          </a:p>
          <a:p>
            <a:r>
              <a:rPr lang="en-IN" sz="2000" dirty="0"/>
              <a:t>2. Check git : in CMD : git --version </a:t>
            </a:r>
          </a:p>
          <a:p>
            <a:r>
              <a:rPr lang="en-IN" sz="2000" dirty="0"/>
              <a:t>3. Create Bitbucket account: </a:t>
            </a:r>
            <a:r>
              <a:rPr lang="en-US" sz="2000" dirty="0">
                <a:hlinkClick r:id="rId3"/>
              </a:rPr>
              <a:t>Bitbucket | Git solution for teams using Jira</a:t>
            </a:r>
            <a:endParaRPr lang="en-US" sz="2000" dirty="0"/>
          </a:p>
          <a:p>
            <a:r>
              <a:rPr lang="en-US" sz="2000" dirty="0"/>
              <a:t>4. Create workspace and remote repository in Bit Bucket </a:t>
            </a:r>
          </a:p>
          <a:p>
            <a:r>
              <a:rPr lang="en-US" sz="2000" dirty="0"/>
              <a:t>5. Clone the remote repository into local system</a:t>
            </a:r>
            <a:endParaRPr lang="en-IN" sz="2000" dirty="0"/>
          </a:p>
          <a:p>
            <a:endParaRPr lang="en-IN" sz="2000" dirty="0"/>
          </a:p>
        </p:txBody>
      </p:sp>
    </p:spTree>
    <p:extLst>
      <p:ext uri="{BB962C8B-B14F-4D97-AF65-F5344CB8AC3E}">
        <p14:creationId xmlns:p14="http://schemas.microsoft.com/office/powerpoint/2010/main" val="66816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350483-D343-0FAC-4BDC-53C078A5909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and Bit Bucket Stages</a:t>
            </a:r>
            <a:endParaRPr lang="en-IN" sz="4000" dirty="0">
              <a:solidFill>
                <a:srgbClr val="FFFFFF"/>
              </a:solidFill>
            </a:endParaRPr>
          </a:p>
        </p:txBody>
      </p:sp>
      <p:pic>
        <p:nvPicPr>
          <p:cNvPr id="15" name="Content Placeholder 14" descr="A diagram of a work flow&#10;&#10;AI-generated content may be incorrect.">
            <a:extLst>
              <a:ext uri="{FF2B5EF4-FFF2-40B4-BE49-F238E27FC236}">
                <a16:creationId xmlns:a16="http://schemas.microsoft.com/office/drawing/2014/main" id="{0E4B9B97-6216-A03D-B38A-451800C8E0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13756" y="1437470"/>
            <a:ext cx="8057190" cy="4890760"/>
          </a:xfrm>
        </p:spPr>
      </p:pic>
      <p:pic>
        <p:nvPicPr>
          <p:cNvPr id="7" name="Picture 6" descr="A blue letter on a black background&#10;&#10;AI-generated content may be incorrect.">
            <a:extLst>
              <a:ext uri="{FF2B5EF4-FFF2-40B4-BE49-F238E27FC236}">
                <a16:creationId xmlns:a16="http://schemas.microsoft.com/office/drawing/2014/main" id="{4D357C79-FB56-608D-4E21-EBF9353C231A}"/>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9752644" y="1969567"/>
            <a:ext cx="1850193" cy="436177"/>
          </a:xfrm>
          <a:prstGeom prst="rect">
            <a:avLst/>
          </a:prstGeom>
        </p:spPr>
      </p:pic>
    </p:spTree>
    <p:extLst>
      <p:ext uri="{BB962C8B-B14F-4D97-AF65-F5344CB8AC3E}">
        <p14:creationId xmlns:p14="http://schemas.microsoft.com/office/powerpoint/2010/main" val="487329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2BC5BF-0583-E35D-FF23-7187D72886B3}"/>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Important GIT Commands </a:t>
            </a:r>
            <a:endParaRPr lang="en-IN" sz="4000" dirty="0">
              <a:solidFill>
                <a:srgbClr val="FFFFFF"/>
              </a:solidFill>
            </a:endParaRPr>
          </a:p>
        </p:txBody>
      </p:sp>
      <p:pic>
        <p:nvPicPr>
          <p:cNvPr id="5" name="Content Placeholder 4">
            <a:extLst>
              <a:ext uri="{FF2B5EF4-FFF2-40B4-BE49-F238E27FC236}">
                <a16:creationId xmlns:a16="http://schemas.microsoft.com/office/drawing/2014/main" id="{F4F1F120-CE0F-2329-E429-5423E9510D6E}"/>
              </a:ext>
            </a:extLst>
          </p:cNvPr>
          <p:cNvPicPr>
            <a:picLocks noGrp="1" noChangeAspect="1"/>
          </p:cNvPicPr>
          <p:nvPr>
            <p:ph idx="1"/>
          </p:nvPr>
        </p:nvPicPr>
        <p:blipFill>
          <a:blip r:embed="rId2"/>
          <a:stretch>
            <a:fillRect/>
          </a:stretch>
        </p:blipFill>
        <p:spPr>
          <a:xfrm>
            <a:off x="4810125" y="718317"/>
            <a:ext cx="7222042" cy="5408666"/>
          </a:xfrm>
          <a:prstGeom prst="rect">
            <a:avLst/>
          </a:prstGeom>
        </p:spPr>
      </p:pic>
    </p:spTree>
    <p:extLst>
      <p:ext uri="{BB962C8B-B14F-4D97-AF65-F5344CB8AC3E}">
        <p14:creationId xmlns:p14="http://schemas.microsoft.com/office/powerpoint/2010/main" val="2563678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D9C7D6-CB55-E1E9-DA99-819DD3A6446E}"/>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Commands </a:t>
            </a:r>
            <a:endParaRPr lang="en-IN" sz="4000" dirty="0">
              <a:solidFill>
                <a:srgbClr val="FFFFFF"/>
              </a:solidFill>
            </a:endParaRPr>
          </a:p>
        </p:txBody>
      </p:sp>
      <p:pic>
        <p:nvPicPr>
          <p:cNvPr id="5" name="Content Placeholder 4">
            <a:extLst>
              <a:ext uri="{FF2B5EF4-FFF2-40B4-BE49-F238E27FC236}">
                <a16:creationId xmlns:a16="http://schemas.microsoft.com/office/drawing/2014/main" id="{3B2A6861-3C7F-EB17-2539-3EAEDF70AFE4}"/>
              </a:ext>
            </a:extLst>
          </p:cNvPr>
          <p:cNvPicPr>
            <a:picLocks noGrp="1" noChangeAspect="1"/>
          </p:cNvPicPr>
          <p:nvPr>
            <p:ph idx="1"/>
          </p:nvPr>
        </p:nvPicPr>
        <p:blipFill>
          <a:blip r:embed="rId3"/>
          <a:stretch>
            <a:fillRect/>
          </a:stretch>
        </p:blipFill>
        <p:spPr>
          <a:xfrm>
            <a:off x="4367694" y="245238"/>
            <a:ext cx="7824305" cy="2035365"/>
          </a:xfrm>
          <a:prstGeom prst="rect">
            <a:avLst/>
          </a:prstGeom>
        </p:spPr>
      </p:pic>
      <p:pic>
        <p:nvPicPr>
          <p:cNvPr id="7" name="Picture 6">
            <a:extLst>
              <a:ext uri="{FF2B5EF4-FFF2-40B4-BE49-F238E27FC236}">
                <a16:creationId xmlns:a16="http://schemas.microsoft.com/office/drawing/2014/main" id="{C6758801-00C2-12B1-BE11-2AF4DA1FEEDE}"/>
              </a:ext>
            </a:extLst>
          </p:cNvPr>
          <p:cNvPicPr>
            <a:picLocks noChangeAspect="1"/>
          </p:cNvPicPr>
          <p:nvPr/>
        </p:nvPicPr>
        <p:blipFill>
          <a:blip r:embed="rId4"/>
          <a:stretch>
            <a:fillRect/>
          </a:stretch>
        </p:blipFill>
        <p:spPr>
          <a:xfrm>
            <a:off x="4367695" y="1537939"/>
            <a:ext cx="7742529" cy="4698948"/>
          </a:xfrm>
          <a:prstGeom prst="rect">
            <a:avLst/>
          </a:prstGeom>
        </p:spPr>
      </p:pic>
    </p:spTree>
    <p:extLst>
      <p:ext uri="{BB962C8B-B14F-4D97-AF65-F5344CB8AC3E}">
        <p14:creationId xmlns:p14="http://schemas.microsoft.com/office/powerpoint/2010/main" val="1878814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1911E8-BECA-EAC6-C48F-91D6B129776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Commands</a:t>
            </a:r>
            <a:endParaRPr lang="en-IN" sz="4000" dirty="0">
              <a:solidFill>
                <a:srgbClr val="FFFFFF"/>
              </a:solidFill>
            </a:endParaRPr>
          </a:p>
        </p:txBody>
      </p:sp>
      <p:pic>
        <p:nvPicPr>
          <p:cNvPr id="5" name="Content Placeholder 4">
            <a:extLst>
              <a:ext uri="{FF2B5EF4-FFF2-40B4-BE49-F238E27FC236}">
                <a16:creationId xmlns:a16="http://schemas.microsoft.com/office/drawing/2014/main" id="{6FC4D74C-F36E-9E84-59A4-E1F8A361E455}"/>
              </a:ext>
            </a:extLst>
          </p:cNvPr>
          <p:cNvPicPr>
            <a:picLocks noGrp="1" noChangeAspect="1"/>
          </p:cNvPicPr>
          <p:nvPr>
            <p:ph idx="1"/>
          </p:nvPr>
        </p:nvPicPr>
        <p:blipFill>
          <a:blip r:embed="rId2"/>
          <a:stretch>
            <a:fillRect/>
          </a:stretch>
        </p:blipFill>
        <p:spPr>
          <a:xfrm>
            <a:off x="4699138" y="176155"/>
            <a:ext cx="7489814" cy="3798197"/>
          </a:xfrm>
          <a:prstGeom prst="rect">
            <a:avLst/>
          </a:prstGeom>
        </p:spPr>
      </p:pic>
      <p:pic>
        <p:nvPicPr>
          <p:cNvPr id="7" name="Picture 6">
            <a:extLst>
              <a:ext uri="{FF2B5EF4-FFF2-40B4-BE49-F238E27FC236}">
                <a16:creationId xmlns:a16="http://schemas.microsoft.com/office/drawing/2014/main" id="{291B7F85-3BC0-8BB7-F6F3-12D5C78E334D}"/>
              </a:ext>
            </a:extLst>
          </p:cNvPr>
          <p:cNvPicPr>
            <a:picLocks noChangeAspect="1"/>
          </p:cNvPicPr>
          <p:nvPr/>
        </p:nvPicPr>
        <p:blipFill>
          <a:blip r:embed="rId3"/>
          <a:stretch>
            <a:fillRect/>
          </a:stretch>
        </p:blipFill>
        <p:spPr>
          <a:xfrm>
            <a:off x="4699139" y="3919628"/>
            <a:ext cx="7489814" cy="2993096"/>
          </a:xfrm>
          <a:prstGeom prst="rect">
            <a:avLst/>
          </a:prstGeom>
        </p:spPr>
      </p:pic>
    </p:spTree>
    <p:extLst>
      <p:ext uri="{BB962C8B-B14F-4D97-AF65-F5344CB8AC3E}">
        <p14:creationId xmlns:p14="http://schemas.microsoft.com/office/powerpoint/2010/main" val="3531724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61A615-A5C2-26B3-A5F3-929100927600}"/>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Commands</a:t>
            </a:r>
            <a:endParaRPr lang="en-IN" sz="4000" dirty="0">
              <a:solidFill>
                <a:srgbClr val="FFFFFF"/>
              </a:solidFill>
            </a:endParaRPr>
          </a:p>
        </p:txBody>
      </p:sp>
      <p:pic>
        <p:nvPicPr>
          <p:cNvPr id="5" name="Content Placeholder 4">
            <a:extLst>
              <a:ext uri="{FF2B5EF4-FFF2-40B4-BE49-F238E27FC236}">
                <a16:creationId xmlns:a16="http://schemas.microsoft.com/office/drawing/2014/main" id="{22143545-518E-FF67-91B2-AABAEBD25EDD}"/>
              </a:ext>
            </a:extLst>
          </p:cNvPr>
          <p:cNvPicPr>
            <a:picLocks noGrp="1" noChangeAspect="1"/>
          </p:cNvPicPr>
          <p:nvPr>
            <p:ph idx="1"/>
          </p:nvPr>
        </p:nvPicPr>
        <p:blipFill>
          <a:blip r:embed="rId2"/>
          <a:stretch>
            <a:fillRect/>
          </a:stretch>
        </p:blipFill>
        <p:spPr>
          <a:xfrm>
            <a:off x="4699137" y="212568"/>
            <a:ext cx="7266121" cy="3433882"/>
          </a:xfrm>
          <a:prstGeom prst="rect">
            <a:avLst/>
          </a:prstGeom>
        </p:spPr>
      </p:pic>
      <p:pic>
        <p:nvPicPr>
          <p:cNvPr id="7" name="Picture 6">
            <a:extLst>
              <a:ext uri="{FF2B5EF4-FFF2-40B4-BE49-F238E27FC236}">
                <a16:creationId xmlns:a16="http://schemas.microsoft.com/office/drawing/2014/main" id="{9395D066-794F-05D6-0F25-65DBF14B8542}"/>
              </a:ext>
            </a:extLst>
          </p:cNvPr>
          <p:cNvPicPr>
            <a:picLocks noChangeAspect="1"/>
          </p:cNvPicPr>
          <p:nvPr/>
        </p:nvPicPr>
        <p:blipFill>
          <a:blip r:embed="rId3"/>
          <a:stretch>
            <a:fillRect/>
          </a:stretch>
        </p:blipFill>
        <p:spPr>
          <a:xfrm>
            <a:off x="4587289" y="3646450"/>
            <a:ext cx="7489815" cy="3096216"/>
          </a:xfrm>
          <a:prstGeom prst="rect">
            <a:avLst/>
          </a:prstGeom>
        </p:spPr>
      </p:pic>
    </p:spTree>
    <p:extLst>
      <p:ext uri="{BB962C8B-B14F-4D97-AF65-F5344CB8AC3E}">
        <p14:creationId xmlns:p14="http://schemas.microsoft.com/office/powerpoint/2010/main" val="61982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86F985-E376-DDD8-F667-F2B5E4F6B56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Commands</a:t>
            </a:r>
            <a:endParaRPr lang="en-IN" sz="4000" dirty="0">
              <a:solidFill>
                <a:srgbClr val="FFFFFF"/>
              </a:solidFill>
            </a:endParaRPr>
          </a:p>
        </p:txBody>
      </p:sp>
      <p:pic>
        <p:nvPicPr>
          <p:cNvPr id="5" name="Content Placeholder 4">
            <a:extLst>
              <a:ext uri="{FF2B5EF4-FFF2-40B4-BE49-F238E27FC236}">
                <a16:creationId xmlns:a16="http://schemas.microsoft.com/office/drawing/2014/main" id="{95920004-2FED-E226-B0F9-D06E1D78D1DC}"/>
              </a:ext>
            </a:extLst>
          </p:cNvPr>
          <p:cNvPicPr>
            <a:picLocks noGrp="1" noChangeAspect="1"/>
          </p:cNvPicPr>
          <p:nvPr>
            <p:ph idx="1"/>
          </p:nvPr>
        </p:nvPicPr>
        <p:blipFill>
          <a:blip r:embed="rId2"/>
          <a:stretch>
            <a:fillRect/>
          </a:stretch>
        </p:blipFill>
        <p:spPr>
          <a:xfrm>
            <a:off x="4143388" y="1093601"/>
            <a:ext cx="7666287" cy="4691074"/>
          </a:xfrm>
          <a:prstGeom prst="rect">
            <a:avLst/>
          </a:prstGeom>
        </p:spPr>
      </p:pic>
    </p:spTree>
    <p:extLst>
      <p:ext uri="{BB962C8B-B14F-4D97-AF65-F5344CB8AC3E}">
        <p14:creationId xmlns:p14="http://schemas.microsoft.com/office/powerpoint/2010/main" val="3445255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0A845A-D4A8-5129-262B-F38366CFDB6D}"/>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Execution of certain commands</a:t>
            </a:r>
            <a:endParaRPr lang="en-IN" sz="4000" dirty="0">
              <a:solidFill>
                <a:srgbClr val="FFFFFF"/>
              </a:solidFill>
            </a:endParaRPr>
          </a:p>
        </p:txBody>
      </p:sp>
      <p:pic>
        <p:nvPicPr>
          <p:cNvPr id="5" name="Content Placeholder 4">
            <a:extLst>
              <a:ext uri="{FF2B5EF4-FFF2-40B4-BE49-F238E27FC236}">
                <a16:creationId xmlns:a16="http://schemas.microsoft.com/office/drawing/2014/main" id="{E9F0C8CF-4AC5-DAD2-DD84-8113C93ABA1F}"/>
              </a:ext>
            </a:extLst>
          </p:cNvPr>
          <p:cNvPicPr>
            <a:picLocks noGrp="1" noChangeAspect="1"/>
          </p:cNvPicPr>
          <p:nvPr>
            <p:ph idx="1"/>
          </p:nvPr>
        </p:nvPicPr>
        <p:blipFill>
          <a:blip r:embed="rId2"/>
          <a:stretch>
            <a:fillRect/>
          </a:stretch>
        </p:blipFill>
        <p:spPr>
          <a:xfrm>
            <a:off x="4182921" y="20276"/>
            <a:ext cx="3982006" cy="647790"/>
          </a:xfrm>
          <a:prstGeom prst="rect">
            <a:avLst/>
          </a:prstGeom>
        </p:spPr>
      </p:pic>
      <p:pic>
        <p:nvPicPr>
          <p:cNvPr id="7" name="Picture 6">
            <a:extLst>
              <a:ext uri="{FF2B5EF4-FFF2-40B4-BE49-F238E27FC236}">
                <a16:creationId xmlns:a16="http://schemas.microsoft.com/office/drawing/2014/main" id="{A98EC98A-484F-F856-DDF6-8DF73B0703B1}"/>
              </a:ext>
            </a:extLst>
          </p:cNvPr>
          <p:cNvPicPr>
            <a:picLocks noChangeAspect="1"/>
          </p:cNvPicPr>
          <p:nvPr/>
        </p:nvPicPr>
        <p:blipFill>
          <a:blip r:embed="rId3"/>
          <a:stretch>
            <a:fillRect/>
          </a:stretch>
        </p:blipFill>
        <p:spPr>
          <a:xfrm>
            <a:off x="4182921" y="688342"/>
            <a:ext cx="5449060" cy="514422"/>
          </a:xfrm>
          <a:prstGeom prst="rect">
            <a:avLst/>
          </a:prstGeom>
        </p:spPr>
      </p:pic>
      <p:pic>
        <p:nvPicPr>
          <p:cNvPr id="11" name="Picture 10">
            <a:extLst>
              <a:ext uri="{FF2B5EF4-FFF2-40B4-BE49-F238E27FC236}">
                <a16:creationId xmlns:a16="http://schemas.microsoft.com/office/drawing/2014/main" id="{643379BE-AAFA-01B6-D154-408643BA5C1C}"/>
              </a:ext>
            </a:extLst>
          </p:cNvPr>
          <p:cNvPicPr>
            <a:picLocks noChangeAspect="1"/>
          </p:cNvPicPr>
          <p:nvPr/>
        </p:nvPicPr>
        <p:blipFill>
          <a:blip r:embed="rId4"/>
          <a:stretch>
            <a:fillRect/>
          </a:stretch>
        </p:blipFill>
        <p:spPr>
          <a:xfrm>
            <a:off x="4182921" y="1223040"/>
            <a:ext cx="7822879" cy="1190791"/>
          </a:xfrm>
          <a:prstGeom prst="rect">
            <a:avLst/>
          </a:prstGeom>
        </p:spPr>
      </p:pic>
      <p:pic>
        <p:nvPicPr>
          <p:cNvPr id="15" name="Picture 14">
            <a:extLst>
              <a:ext uri="{FF2B5EF4-FFF2-40B4-BE49-F238E27FC236}">
                <a16:creationId xmlns:a16="http://schemas.microsoft.com/office/drawing/2014/main" id="{FE59E3FB-05CD-F2DC-A41D-8B2100EF45C5}"/>
              </a:ext>
            </a:extLst>
          </p:cNvPr>
          <p:cNvPicPr>
            <a:picLocks noChangeAspect="1"/>
          </p:cNvPicPr>
          <p:nvPr/>
        </p:nvPicPr>
        <p:blipFill>
          <a:blip r:embed="rId5"/>
          <a:stretch>
            <a:fillRect/>
          </a:stretch>
        </p:blipFill>
        <p:spPr>
          <a:xfrm>
            <a:off x="4182921" y="2469674"/>
            <a:ext cx="6957848" cy="2646433"/>
          </a:xfrm>
          <a:prstGeom prst="rect">
            <a:avLst/>
          </a:prstGeom>
        </p:spPr>
      </p:pic>
      <p:pic>
        <p:nvPicPr>
          <p:cNvPr id="19" name="Picture 18">
            <a:extLst>
              <a:ext uri="{FF2B5EF4-FFF2-40B4-BE49-F238E27FC236}">
                <a16:creationId xmlns:a16="http://schemas.microsoft.com/office/drawing/2014/main" id="{B92D571C-2B6F-CE28-41C0-4B09A2523733}"/>
              </a:ext>
            </a:extLst>
          </p:cNvPr>
          <p:cNvPicPr>
            <a:picLocks noChangeAspect="1"/>
          </p:cNvPicPr>
          <p:nvPr/>
        </p:nvPicPr>
        <p:blipFill>
          <a:blip r:embed="rId6"/>
          <a:stretch>
            <a:fillRect/>
          </a:stretch>
        </p:blipFill>
        <p:spPr>
          <a:xfrm>
            <a:off x="4182920" y="5193103"/>
            <a:ext cx="7822879" cy="269754"/>
          </a:xfrm>
          <a:prstGeom prst="rect">
            <a:avLst/>
          </a:prstGeom>
        </p:spPr>
      </p:pic>
      <p:pic>
        <p:nvPicPr>
          <p:cNvPr id="22" name="Picture 21">
            <a:extLst>
              <a:ext uri="{FF2B5EF4-FFF2-40B4-BE49-F238E27FC236}">
                <a16:creationId xmlns:a16="http://schemas.microsoft.com/office/drawing/2014/main" id="{2B31F8C6-30DA-F4D2-C502-9252EECF7BB2}"/>
              </a:ext>
            </a:extLst>
          </p:cNvPr>
          <p:cNvPicPr>
            <a:picLocks noChangeAspect="1"/>
          </p:cNvPicPr>
          <p:nvPr/>
        </p:nvPicPr>
        <p:blipFill>
          <a:blip r:embed="rId7"/>
          <a:stretch>
            <a:fillRect/>
          </a:stretch>
        </p:blipFill>
        <p:spPr>
          <a:xfrm>
            <a:off x="4182918" y="5473173"/>
            <a:ext cx="7822879" cy="509256"/>
          </a:xfrm>
          <a:prstGeom prst="rect">
            <a:avLst/>
          </a:prstGeom>
        </p:spPr>
      </p:pic>
      <p:pic>
        <p:nvPicPr>
          <p:cNvPr id="24" name="Picture 23">
            <a:extLst>
              <a:ext uri="{FF2B5EF4-FFF2-40B4-BE49-F238E27FC236}">
                <a16:creationId xmlns:a16="http://schemas.microsoft.com/office/drawing/2014/main" id="{EB5B85C2-4AFD-A47C-CDEF-47BC8249F3E7}"/>
              </a:ext>
            </a:extLst>
          </p:cNvPr>
          <p:cNvPicPr>
            <a:picLocks noChangeAspect="1"/>
          </p:cNvPicPr>
          <p:nvPr/>
        </p:nvPicPr>
        <p:blipFill>
          <a:blip r:embed="rId8"/>
          <a:stretch>
            <a:fillRect/>
          </a:stretch>
        </p:blipFill>
        <p:spPr>
          <a:xfrm>
            <a:off x="4182919" y="5911445"/>
            <a:ext cx="7822879" cy="1023551"/>
          </a:xfrm>
          <a:prstGeom prst="rect">
            <a:avLst/>
          </a:prstGeom>
        </p:spPr>
      </p:pic>
    </p:spTree>
    <p:extLst>
      <p:ext uri="{BB962C8B-B14F-4D97-AF65-F5344CB8AC3E}">
        <p14:creationId xmlns:p14="http://schemas.microsoft.com/office/powerpoint/2010/main" val="1304310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D78329-2857-982A-7929-19968BFE9783}"/>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Branching in Git</a:t>
            </a:r>
            <a:endParaRPr lang="en-IN" sz="4000" dirty="0">
              <a:solidFill>
                <a:srgbClr val="FFFFFF"/>
              </a:solidFill>
            </a:endParaRPr>
          </a:p>
        </p:txBody>
      </p:sp>
      <p:pic>
        <p:nvPicPr>
          <p:cNvPr id="5" name="Content Placeholder 4" descr="A diagram of a branch&#10;&#10;AI-generated content may be incorrect.">
            <a:extLst>
              <a:ext uri="{FF2B5EF4-FFF2-40B4-BE49-F238E27FC236}">
                <a16:creationId xmlns:a16="http://schemas.microsoft.com/office/drawing/2014/main" id="{C73F2D1E-26C7-0A75-8523-7DDF1744F6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34810" y="328126"/>
            <a:ext cx="7521059" cy="4027890"/>
          </a:xfrm>
        </p:spPr>
      </p:pic>
      <p:sp>
        <p:nvSpPr>
          <p:cNvPr id="3" name="TextBox 2">
            <a:extLst>
              <a:ext uri="{FF2B5EF4-FFF2-40B4-BE49-F238E27FC236}">
                <a16:creationId xmlns:a16="http://schemas.microsoft.com/office/drawing/2014/main" id="{B0B2E17B-9796-51D8-C23B-B917B6180D6D}"/>
              </a:ext>
            </a:extLst>
          </p:cNvPr>
          <p:cNvSpPr txBox="1"/>
          <p:nvPr/>
        </p:nvSpPr>
        <p:spPr>
          <a:xfrm>
            <a:off x="4905054" y="4909457"/>
            <a:ext cx="5539007" cy="1477328"/>
          </a:xfrm>
          <a:prstGeom prst="rect">
            <a:avLst/>
          </a:prstGeom>
          <a:noFill/>
        </p:spPr>
        <p:txBody>
          <a:bodyPr wrap="square" rtlCol="0">
            <a:spAutoFit/>
          </a:bodyPr>
          <a:lstStyle/>
          <a:p>
            <a:r>
              <a:rPr lang="en-IN" dirty="0"/>
              <a:t>Command to create and checkout new branch from main/master branch : first checkout to master branch and then below command.</a:t>
            </a:r>
            <a:br>
              <a:rPr lang="en-IN" dirty="0"/>
            </a:br>
            <a:r>
              <a:rPr lang="en-IN" b="1" dirty="0"/>
              <a:t>git checkout -b feature/</a:t>
            </a:r>
            <a:r>
              <a:rPr lang="en-IN" b="1" dirty="0" err="1"/>
              <a:t>fingerprintscanner</a:t>
            </a:r>
            <a:endParaRPr lang="en-IN" b="1" dirty="0"/>
          </a:p>
          <a:p>
            <a:endParaRPr lang="en-IN" dirty="0"/>
          </a:p>
        </p:txBody>
      </p:sp>
    </p:spTree>
    <p:extLst>
      <p:ext uri="{BB962C8B-B14F-4D97-AF65-F5344CB8AC3E}">
        <p14:creationId xmlns:p14="http://schemas.microsoft.com/office/powerpoint/2010/main" val="4096868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3D98AB-FD38-9523-2766-4714CAE81485}"/>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Merging Pull Request with Master Branch</a:t>
            </a:r>
            <a:endParaRPr lang="en-IN" sz="4000" dirty="0">
              <a:solidFill>
                <a:srgbClr val="FFFFFF"/>
              </a:solidFill>
            </a:endParaRPr>
          </a:p>
        </p:txBody>
      </p:sp>
      <p:sp>
        <p:nvSpPr>
          <p:cNvPr id="3" name="Content Placeholder 2">
            <a:extLst>
              <a:ext uri="{FF2B5EF4-FFF2-40B4-BE49-F238E27FC236}">
                <a16:creationId xmlns:a16="http://schemas.microsoft.com/office/drawing/2014/main" id="{92688AA0-26AF-8DBA-132E-827A5C718A08}"/>
              </a:ext>
            </a:extLst>
          </p:cNvPr>
          <p:cNvSpPr>
            <a:spLocks noGrp="1"/>
          </p:cNvSpPr>
          <p:nvPr>
            <p:ph idx="1"/>
          </p:nvPr>
        </p:nvSpPr>
        <p:spPr>
          <a:xfrm>
            <a:off x="4810259" y="649480"/>
            <a:ext cx="6555347" cy="5546047"/>
          </a:xfrm>
        </p:spPr>
        <p:txBody>
          <a:bodyPr anchor="ctr">
            <a:normAutofit/>
          </a:bodyPr>
          <a:lstStyle/>
          <a:p>
            <a:r>
              <a:rPr lang="en-US" dirty="0"/>
              <a:t>when all the changes in the code occur on different lines or in different files, Git will successfully merge the commits without your help.</a:t>
            </a:r>
          </a:p>
          <a:p>
            <a:r>
              <a:rPr lang="en-IN" dirty="0"/>
              <a:t>But you will run into </a:t>
            </a:r>
            <a:r>
              <a:rPr lang="en-IN" dirty="0">
                <a:solidFill>
                  <a:srgbClr val="FF0000"/>
                </a:solidFill>
              </a:rPr>
              <a:t>Merge Conflicts </a:t>
            </a:r>
            <a:r>
              <a:rPr lang="en-IN" dirty="0"/>
              <a:t>when same lines of the code which you changed are already changed by others in main branch after you cut the branch.</a:t>
            </a:r>
            <a:endParaRPr lang="en-IN" sz="3200" dirty="0"/>
          </a:p>
        </p:txBody>
      </p:sp>
    </p:spTree>
    <p:extLst>
      <p:ext uri="{BB962C8B-B14F-4D97-AF65-F5344CB8AC3E}">
        <p14:creationId xmlns:p14="http://schemas.microsoft.com/office/powerpoint/2010/main" val="3575276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90F5B-9A72-D53F-AB38-1D206B3100E7}"/>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Merging latest changes from Master/Main to Our branch </a:t>
            </a:r>
            <a:endParaRPr lang="en-IN" sz="4000" dirty="0">
              <a:solidFill>
                <a:srgbClr val="FFFFFF"/>
              </a:solidFill>
            </a:endParaRPr>
          </a:p>
        </p:txBody>
      </p:sp>
      <p:sp>
        <p:nvSpPr>
          <p:cNvPr id="3" name="Content Placeholder 2">
            <a:extLst>
              <a:ext uri="{FF2B5EF4-FFF2-40B4-BE49-F238E27FC236}">
                <a16:creationId xmlns:a16="http://schemas.microsoft.com/office/drawing/2014/main" id="{DA25A8E9-99D2-E9E5-0B0F-E0A0EBCAE677}"/>
              </a:ext>
            </a:extLst>
          </p:cNvPr>
          <p:cNvSpPr>
            <a:spLocks noGrp="1"/>
          </p:cNvSpPr>
          <p:nvPr>
            <p:ph idx="1"/>
          </p:nvPr>
        </p:nvSpPr>
        <p:spPr>
          <a:xfrm>
            <a:off x="4810259" y="649480"/>
            <a:ext cx="6555347" cy="5546047"/>
          </a:xfrm>
        </p:spPr>
        <p:txBody>
          <a:bodyPr anchor="ctr">
            <a:normAutofit/>
          </a:bodyPr>
          <a:lstStyle/>
          <a:p>
            <a:r>
              <a:rPr lang="en-US" sz="2000" dirty="0"/>
              <a:t>1. git checkout master/main</a:t>
            </a:r>
          </a:p>
          <a:p>
            <a:r>
              <a:rPr lang="en-US" sz="2000" dirty="0"/>
              <a:t>2. git pull </a:t>
            </a:r>
          </a:p>
          <a:p>
            <a:r>
              <a:rPr lang="en-US" sz="2000" dirty="0"/>
              <a:t>3. git checkout branch(our branch)</a:t>
            </a:r>
          </a:p>
          <a:p>
            <a:r>
              <a:rPr lang="en-US" sz="2000" dirty="0"/>
              <a:t>4. git merge master/main </a:t>
            </a:r>
            <a:endParaRPr lang="en-IN" sz="2000" dirty="0"/>
          </a:p>
        </p:txBody>
      </p:sp>
    </p:spTree>
    <p:extLst>
      <p:ext uri="{BB962C8B-B14F-4D97-AF65-F5344CB8AC3E}">
        <p14:creationId xmlns:p14="http://schemas.microsoft.com/office/powerpoint/2010/main" val="1207019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0E02B9-2127-9F7C-F694-0CF16C76D5E0}"/>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Rebase</a:t>
            </a:r>
            <a:endParaRPr lang="en-IN" sz="4000" dirty="0">
              <a:solidFill>
                <a:srgbClr val="FFFFFF"/>
              </a:solidFill>
            </a:endParaRPr>
          </a:p>
        </p:txBody>
      </p:sp>
      <p:pic>
        <p:nvPicPr>
          <p:cNvPr id="5" name="Content Placeholder 4" descr="A diagram of a diagram&#10;&#10;AI-generated content may be incorrect.">
            <a:extLst>
              <a:ext uri="{FF2B5EF4-FFF2-40B4-BE49-F238E27FC236}">
                <a16:creationId xmlns:a16="http://schemas.microsoft.com/office/drawing/2014/main" id="{FBE5DCC7-82F2-7347-18E2-1453241AF0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1809" y="185446"/>
            <a:ext cx="7449446" cy="4190313"/>
          </a:xfrm>
        </p:spPr>
      </p:pic>
      <p:sp>
        <p:nvSpPr>
          <p:cNvPr id="6" name="TextBox 5">
            <a:extLst>
              <a:ext uri="{FF2B5EF4-FFF2-40B4-BE49-F238E27FC236}">
                <a16:creationId xmlns:a16="http://schemas.microsoft.com/office/drawing/2014/main" id="{D779F95B-53A5-6627-C009-B1BCD605DF53}"/>
              </a:ext>
            </a:extLst>
          </p:cNvPr>
          <p:cNvSpPr txBox="1"/>
          <p:nvPr/>
        </p:nvSpPr>
        <p:spPr>
          <a:xfrm>
            <a:off x="4251809" y="4735286"/>
            <a:ext cx="5654191" cy="1477328"/>
          </a:xfrm>
          <a:prstGeom prst="rect">
            <a:avLst/>
          </a:prstGeom>
          <a:noFill/>
        </p:spPr>
        <p:txBody>
          <a:bodyPr wrap="square" rtlCol="0">
            <a:spAutoFit/>
          </a:bodyPr>
          <a:lstStyle/>
          <a:p>
            <a:r>
              <a:rPr lang="en-US" dirty="0"/>
              <a:t>1. git checkout master/main</a:t>
            </a:r>
          </a:p>
          <a:p>
            <a:r>
              <a:rPr lang="en-US" dirty="0"/>
              <a:t>2. git pull </a:t>
            </a:r>
          </a:p>
          <a:p>
            <a:r>
              <a:rPr lang="en-US" dirty="0"/>
              <a:t>3. git checkout branch(our branch)</a:t>
            </a:r>
          </a:p>
          <a:p>
            <a:r>
              <a:rPr lang="en-US" dirty="0"/>
              <a:t>4. git rebase master/main </a:t>
            </a:r>
            <a:endParaRPr lang="en-IN" dirty="0"/>
          </a:p>
          <a:p>
            <a:endParaRPr lang="en-IN" dirty="0"/>
          </a:p>
        </p:txBody>
      </p:sp>
    </p:spTree>
    <p:extLst>
      <p:ext uri="{BB962C8B-B14F-4D97-AF65-F5344CB8AC3E}">
        <p14:creationId xmlns:p14="http://schemas.microsoft.com/office/powerpoint/2010/main" val="3527766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DBDFC9-10D2-3BD1-A182-089B5764C59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Squash </a:t>
            </a:r>
            <a:endParaRPr lang="en-IN" sz="4000" dirty="0">
              <a:solidFill>
                <a:srgbClr val="FFFFFF"/>
              </a:solidFill>
            </a:endParaRPr>
          </a:p>
        </p:txBody>
      </p:sp>
      <p:sp>
        <p:nvSpPr>
          <p:cNvPr id="3" name="Content Placeholder 2">
            <a:extLst>
              <a:ext uri="{FF2B5EF4-FFF2-40B4-BE49-F238E27FC236}">
                <a16:creationId xmlns:a16="http://schemas.microsoft.com/office/drawing/2014/main" id="{5F366339-2448-19BE-7F4E-EDDAEAC6C872}"/>
              </a:ext>
            </a:extLst>
          </p:cNvPr>
          <p:cNvSpPr>
            <a:spLocks noGrp="1"/>
          </p:cNvSpPr>
          <p:nvPr>
            <p:ph idx="1"/>
          </p:nvPr>
        </p:nvSpPr>
        <p:spPr>
          <a:xfrm>
            <a:off x="4810259" y="649480"/>
            <a:ext cx="6555347" cy="5546047"/>
          </a:xfrm>
        </p:spPr>
        <p:txBody>
          <a:bodyPr anchor="ctr">
            <a:normAutofit/>
          </a:bodyPr>
          <a:lstStyle/>
          <a:p>
            <a:r>
              <a:rPr lang="en-US" dirty="0"/>
              <a:t>Git squash is a technique used to combine multiple commits into a single commit, simplifying the commit history. This is particularly useful when working on feature branches with numerous small or experimental commits, as it creates a cleaner and more cohesive history for collaboration and review.</a:t>
            </a:r>
            <a:endParaRPr lang="en-IN" sz="2000" dirty="0"/>
          </a:p>
        </p:txBody>
      </p:sp>
    </p:spTree>
    <p:extLst>
      <p:ext uri="{BB962C8B-B14F-4D97-AF65-F5344CB8AC3E}">
        <p14:creationId xmlns:p14="http://schemas.microsoft.com/office/powerpoint/2010/main" val="177952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10923A-8D26-1BC7-91F9-A857BB7F646D}"/>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Stash </a:t>
            </a:r>
            <a:endParaRPr lang="en-IN" sz="4000" dirty="0">
              <a:solidFill>
                <a:srgbClr val="FFFFFF"/>
              </a:solidFill>
            </a:endParaRPr>
          </a:p>
        </p:txBody>
      </p:sp>
      <p:sp>
        <p:nvSpPr>
          <p:cNvPr id="3" name="Content Placeholder 2">
            <a:extLst>
              <a:ext uri="{FF2B5EF4-FFF2-40B4-BE49-F238E27FC236}">
                <a16:creationId xmlns:a16="http://schemas.microsoft.com/office/drawing/2014/main" id="{1569DFD1-2D41-8233-5FB0-4E74CC750929}"/>
              </a:ext>
            </a:extLst>
          </p:cNvPr>
          <p:cNvSpPr>
            <a:spLocks noGrp="1"/>
          </p:cNvSpPr>
          <p:nvPr>
            <p:ph idx="1"/>
          </p:nvPr>
        </p:nvSpPr>
        <p:spPr>
          <a:xfrm>
            <a:off x="4810259" y="649480"/>
            <a:ext cx="6555347" cy="5546047"/>
          </a:xfrm>
        </p:spPr>
        <p:txBody>
          <a:bodyPr anchor="ctr">
            <a:normAutofit/>
          </a:bodyPr>
          <a:lstStyle/>
          <a:p>
            <a:r>
              <a:rPr lang="en-US" b="1" dirty="0"/>
              <a:t>Git stash</a:t>
            </a:r>
            <a:r>
              <a:rPr lang="en-US" dirty="0"/>
              <a:t> is a powerful feature that allows you to temporarily save changes in your working directory(current branch) without committing them. This is particularly useful when you need to switch branch quickly or work on something else without losing your current progress.</a:t>
            </a:r>
          </a:p>
          <a:p>
            <a:r>
              <a:rPr lang="en-US" dirty="0"/>
              <a:t>Command : git stash</a:t>
            </a:r>
          </a:p>
          <a:p>
            <a:r>
              <a:rPr lang="en-US" dirty="0"/>
              <a:t>Command to get back the changes: git stash pop</a:t>
            </a:r>
            <a:endParaRPr lang="en-IN" dirty="0"/>
          </a:p>
        </p:txBody>
      </p:sp>
    </p:spTree>
    <p:extLst>
      <p:ext uri="{BB962C8B-B14F-4D97-AF65-F5344CB8AC3E}">
        <p14:creationId xmlns:p14="http://schemas.microsoft.com/office/powerpoint/2010/main" val="2638759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7871E-BD06-2612-4BCC-6F55F433EA00}"/>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Git Fetch </a:t>
            </a:r>
            <a:endParaRPr lang="en-IN" sz="4000" dirty="0">
              <a:solidFill>
                <a:srgbClr val="FFFFFF"/>
              </a:solidFill>
            </a:endParaRPr>
          </a:p>
        </p:txBody>
      </p:sp>
      <p:sp>
        <p:nvSpPr>
          <p:cNvPr id="3" name="Content Placeholder 2">
            <a:extLst>
              <a:ext uri="{FF2B5EF4-FFF2-40B4-BE49-F238E27FC236}">
                <a16:creationId xmlns:a16="http://schemas.microsoft.com/office/drawing/2014/main" id="{B8069E9A-216A-1489-B837-6617067F33F2}"/>
              </a:ext>
            </a:extLst>
          </p:cNvPr>
          <p:cNvSpPr>
            <a:spLocks noGrp="1"/>
          </p:cNvSpPr>
          <p:nvPr>
            <p:ph idx="1"/>
          </p:nvPr>
        </p:nvSpPr>
        <p:spPr>
          <a:xfrm>
            <a:off x="4810259" y="649480"/>
            <a:ext cx="6555347" cy="5546047"/>
          </a:xfrm>
        </p:spPr>
        <p:txBody>
          <a:bodyPr anchor="ctr">
            <a:normAutofit/>
          </a:bodyPr>
          <a:lstStyle/>
          <a:p>
            <a:r>
              <a:rPr lang="en-US" b="1" dirty="0"/>
              <a:t>Git fetch</a:t>
            </a:r>
            <a:r>
              <a:rPr lang="en-US" dirty="0"/>
              <a:t> is a fundamental command for retrieving updates(someone created new branch) from a remote repository without merging them into your local repository. This makes git fetch a safe way to review commits before integrating them into your local repo.</a:t>
            </a:r>
            <a:endParaRPr lang="en-IN" sz="2000" dirty="0"/>
          </a:p>
        </p:txBody>
      </p:sp>
    </p:spTree>
    <p:extLst>
      <p:ext uri="{BB962C8B-B14F-4D97-AF65-F5344CB8AC3E}">
        <p14:creationId xmlns:p14="http://schemas.microsoft.com/office/powerpoint/2010/main" val="4015490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6416BB-D0F6-A026-2F24-DBCDF77366F2}"/>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hlinkClick r:id="rId2">
                  <a:extLst>
                    <a:ext uri="{A12FA001-AC4F-418D-AE19-62706E023703}">
                      <ahyp:hlinkClr xmlns:ahyp="http://schemas.microsoft.com/office/drawing/2018/hyperlinkcolor" val="tx"/>
                    </a:ext>
                  </a:extLst>
                </a:hlinkClick>
              </a:rPr>
              <a:t>Git Fetch vs Git Pull</a:t>
            </a:r>
            <a:endParaRPr lang="en-IN" sz="4000">
              <a:solidFill>
                <a:srgbClr val="FFFFFF"/>
              </a:solidFill>
            </a:endParaRPr>
          </a:p>
        </p:txBody>
      </p:sp>
      <p:sp>
        <p:nvSpPr>
          <p:cNvPr id="3" name="Content Placeholder 2">
            <a:extLst>
              <a:ext uri="{FF2B5EF4-FFF2-40B4-BE49-F238E27FC236}">
                <a16:creationId xmlns:a16="http://schemas.microsoft.com/office/drawing/2014/main" id="{D4BB6043-F429-AAB9-B43D-5C17B0ECDB69}"/>
              </a:ext>
            </a:extLst>
          </p:cNvPr>
          <p:cNvSpPr>
            <a:spLocks noGrp="1"/>
          </p:cNvSpPr>
          <p:nvPr>
            <p:ph idx="1"/>
          </p:nvPr>
        </p:nvSpPr>
        <p:spPr>
          <a:xfrm>
            <a:off x="4810259" y="649480"/>
            <a:ext cx="6555347" cy="5546047"/>
          </a:xfrm>
        </p:spPr>
        <p:txBody>
          <a:bodyPr anchor="ctr">
            <a:normAutofit/>
          </a:bodyPr>
          <a:lstStyle/>
          <a:p>
            <a:pPr marL="0" indent="0" fontAlgn="t">
              <a:buNone/>
            </a:pPr>
            <a:endParaRPr lang="en-US" sz="2000"/>
          </a:p>
          <a:p>
            <a:r>
              <a:rPr lang="en-US" sz="2000"/>
              <a:t>Both </a:t>
            </a:r>
            <a:r>
              <a:rPr lang="en-US" sz="2000" b="1"/>
              <a:t>git fetch</a:t>
            </a:r>
            <a:r>
              <a:rPr lang="en-US" sz="2000"/>
              <a:t> and </a:t>
            </a:r>
            <a:r>
              <a:rPr lang="en-US" sz="2000" b="1"/>
              <a:t>git pull</a:t>
            </a:r>
            <a:r>
              <a:rPr lang="en-US" sz="2000"/>
              <a:t> are used to retrieve updates from a remote repository, but they differ in how those updates are applied to your local branch.</a:t>
            </a:r>
          </a:p>
          <a:p>
            <a:r>
              <a:rPr lang="en-US" sz="2000" b="1"/>
              <a:t>git fetch</a:t>
            </a:r>
            <a:r>
              <a:rPr lang="en-US" sz="2000"/>
              <a:t> downloads new commits, branches, and tags from the remote repository into your local .git directory, updating </a:t>
            </a:r>
            <a:r>
              <a:rPr lang="en-US" sz="2000" b="1"/>
              <a:t>remote-tracking branches</a:t>
            </a:r>
            <a:r>
              <a:rPr lang="en-US" sz="2000"/>
              <a:t> (e.g., origin/main) without touching your current working directory. This allows you to review changes before integrating them.</a:t>
            </a:r>
          </a:p>
          <a:p>
            <a:r>
              <a:rPr lang="en-US" sz="2000" b="1"/>
              <a:t>git pull</a:t>
            </a:r>
            <a:r>
              <a:rPr lang="en-US" sz="2000"/>
              <a:t> is essentially </a:t>
            </a:r>
            <a:r>
              <a:rPr lang="en-US" sz="2000" b="1"/>
              <a:t>git fetch + git merge</a:t>
            </a:r>
            <a:r>
              <a:rPr lang="en-US" sz="2000"/>
              <a:t> (or git rebase if configured). It fetches changes from the remote and immediately merges them into your current branch, potentially causing merge conflicts if both local and remote have diverged.</a:t>
            </a:r>
          </a:p>
          <a:p>
            <a:endParaRPr lang="en-IN" sz="2000"/>
          </a:p>
        </p:txBody>
      </p:sp>
    </p:spTree>
    <p:extLst>
      <p:ext uri="{BB962C8B-B14F-4D97-AF65-F5344CB8AC3E}">
        <p14:creationId xmlns:p14="http://schemas.microsoft.com/office/powerpoint/2010/main" val="1855897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BC16C-4C9D-68D4-E05D-32C620555200}"/>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Git Tagging</a:t>
            </a:r>
            <a:endParaRPr lang="en-IN" sz="4000">
              <a:solidFill>
                <a:srgbClr val="FFFFFF"/>
              </a:solidFill>
            </a:endParaRPr>
          </a:p>
        </p:txBody>
      </p:sp>
      <p:sp>
        <p:nvSpPr>
          <p:cNvPr id="3" name="Content Placeholder 2">
            <a:extLst>
              <a:ext uri="{FF2B5EF4-FFF2-40B4-BE49-F238E27FC236}">
                <a16:creationId xmlns:a16="http://schemas.microsoft.com/office/drawing/2014/main" id="{0ECFDA90-9FA8-393F-4CA4-810D3760DCC0}"/>
              </a:ext>
            </a:extLst>
          </p:cNvPr>
          <p:cNvSpPr>
            <a:spLocks noGrp="1"/>
          </p:cNvSpPr>
          <p:nvPr>
            <p:ph idx="1"/>
          </p:nvPr>
        </p:nvSpPr>
        <p:spPr>
          <a:xfrm>
            <a:off x="4810259" y="649480"/>
            <a:ext cx="6555347" cy="5546047"/>
          </a:xfrm>
        </p:spPr>
        <p:txBody>
          <a:bodyPr anchor="ctr">
            <a:normAutofit/>
          </a:bodyPr>
          <a:lstStyle/>
          <a:p>
            <a:r>
              <a:rPr lang="en-US" sz="2000" b="1" dirty="0">
                <a:hlinkClick r:id="rId2">
                  <a:extLst>
                    <a:ext uri="{A12FA001-AC4F-418D-AE19-62706E023703}">
                      <ahyp:hlinkClr xmlns:ahyp="http://schemas.microsoft.com/office/drawing/2018/hyperlinkcolor" val="tx"/>
                    </a:ext>
                  </a:extLst>
                </a:hlinkClick>
              </a:rPr>
              <a:t>Creating and Pushing Tags in Git</a:t>
            </a:r>
            <a:endParaRPr lang="en-US" sz="2000" b="1" dirty="0"/>
          </a:p>
          <a:p>
            <a:r>
              <a:rPr lang="en-US" sz="2000" dirty="0"/>
              <a:t>Tags in Git are used to mark specific points in a repository's history, often used for marking release points like v1.0, v2.0, etc. There are two types of tags in Git: </a:t>
            </a:r>
            <a:r>
              <a:rPr lang="en-US" sz="2000" b="1" dirty="0"/>
              <a:t>lightweight</a:t>
            </a:r>
            <a:r>
              <a:rPr lang="en-US" sz="2000" dirty="0"/>
              <a:t> and </a:t>
            </a:r>
            <a:r>
              <a:rPr lang="en-US" sz="2000" b="1" dirty="0"/>
              <a:t>annotated</a:t>
            </a:r>
            <a:r>
              <a:rPr lang="en-US" sz="2000" dirty="0"/>
              <a:t>. Lightweight tags are simple pointers to a commit, while annotated tags store additional metadata such as the tagger's name, email, date, and a message.</a:t>
            </a:r>
          </a:p>
          <a:p>
            <a:r>
              <a:rPr lang="en-IN" sz="2000" dirty="0"/>
              <a:t>To create tag : git tag &lt;</a:t>
            </a:r>
            <a:r>
              <a:rPr lang="en-IN" sz="2000" dirty="0" err="1"/>
              <a:t>tag_name</a:t>
            </a:r>
            <a:r>
              <a:rPr lang="en-IN" sz="2000" dirty="0"/>
              <a:t>&gt;</a:t>
            </a:r>
          </a:p>
          <a:p>
            <a:r>
              <a:rPr lang="en-IN" sz="2000" dirty="0"/>
              <a:t>Tag with message : </a:t>
            </a:r>
            <a:r>
              <a:rPr lang="de-DE" sz="2000" dirty="0"/>
              <a:t>git tag &lt;tag_name&gt; -a -m "Message„</a:t>
            </a:r>
          </a:p>
          <a:p>
            <a:r>
              <a:rPr lang="de-DE" sz="2000" dirty="0"/>
              <a:t>Tag to previous commits: git tag &lt;tag name&gt; commit_id</a:t>
            </a:r>
          </a:p>
          <a:p>
            <a:r>
              <a:rPr lang="de-DE" sz="2000" dirty="0"/>
              <a:t>Verify Tag : git tag</a:t>
            </a:r>
          </a:p>
          <a:p>
            <a:r>
              <a:rPr lang="de-DE" sz="2000" dirty="0"/>
              <a:t>Push Tag : git push origin &lt;tag_name&gt;</a:t>
            </a:r>
          </a:p>
          <a:p>
            <a:r>
              <a:rPr lang="de-DE" sz="2000" dirty="0"/>
              <a:t>Push All tags : git push origin --tags</a:t>
            </a:r>
            <a:endParaRPr lang="en-IN" sz="2000" dirty="0"/>
          </a:p>
        </p:txBody>
      </p:sp>
    </p:spTree>
    <p:extLst>
      <p:ext uri="{BB962C8B-B14F-4D97-AF65-F5344CB8AC3E}">
        <p14:creationId xmlns:p14="http://schemas.microsoft.com/office/powerpoint/2010/main" val="280050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1454</TotalTime>
  <Words>684</Words>
  <Application>Microsoft Office PowerPoint</Application>
  <PresentationFormat>Widescreen</PresentationFormat>
  <Paragraphs>52</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Git and Bit Bucket  </vt:lpstr>
      <vt:lpstr>Download Git and create account on Bit Bucket </vt:lpstr>
      <vt:lpstr>Git and Bit Bucket Stages</vt:lpstr>
      <vt:lpstr>Important GIT Commands </vt:lpstr>
      <vt:lpstr>GIT Commands </vt:lpstr>
      <vt:lpstr>Git Commands</vt:lpstr>
      <vt:lpstr>Git Commands</vt:lpstr>
      <vt:lpstr>Git Commands</vt:lpstr>
      <vt:lpstr>Execution of certain commands</vt:lpstr>
      <vt:lpstr>Branching in Git</vt:lpstr>
      <vt:lpstr>Merging Pull Request with Master Branch</vt:lpstr>
      <vt:lpstr>Merging latest changes from Master/Main to Our branch </vt:lpstr>
      <vt:lpstr>Git Rebase</vt:lpstr>
      <vt:lpstr>Git Squash </vt:lpstr>
      <vt:lpstr>Git Stash </vt:lpstr>
      <vt:lpstr>Git Fetch </vt:lpstr>
      <vt:lpstr>Git Fetch vs Git Pull</vt:lpstr>
      <vt:lpstr>Git Tagging</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SUNIL</dc:creator>
  <cp:lastModifiedBy>., SUNIL</cp:lastModifiedBy>
  <cp:revision>17</cp:revision>
  <dcterms:created xsi:type="dcterms:W3CDTF">2026-01-13T04:35:40Z</dcterms:created>
  <dcterms:modified xsi:type="dcterms:W3CDTF">2026-01-14T06:51:01Z</dcterms:modified>
</cp:coreProperties>
</file>